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</p:sldIdLst>
  <p:sldSz cy="5143500" cx="9144000"/>
  <p:notesSz cx="6858000" cy="9144000"/>
  <p:embeddedFontLst>
    <p:embeddedFont>
      <p:font typeface="Nunito"/>
      <p:regular r:id="rId66"/>
      <p:bold r:id="rId67"/>
      <p:italic r:id="rId68"/>
      <p:boldItalic r:id="rId69"/>
    </p:embeddedFont>
    <p:embeddedFont>
      <p:font typeface="Maven Pro"/>
      <p:regular r:id="rId70"/>
      <p:bold r:id="rId7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71" Type="http://schemas.openxmlformats.org/officeDocument/2006/relationships/font" Target="fonts/MavenPro-bold.fntdata"/><Relationship Id="rId70" Type="http://schemas.openxmlformats.org/officeDocument/2006/relationships/font" Target="fonts/MavenPro-regular.fntdata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font" Target="fonts/Nunito-regular.fntdata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font" Target="fonts/Nunito-italic.fntdata"/><Relationship Id="rId23" Type="http://schemas.openxmlformats.org/officeDocument/2006/relationships/slide" Target="slides/slide18.xml"/><Relationship Id="rId67" Type="http://schemas.openxmlformats.org/officeDocument/2006/relationships/font" Target="fonts/Nunito-bold.fntdata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font" Target="fonts/Nunito-boldItalic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aba2680814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aba2680814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aba2680814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aba2680814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aba2680814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aba2680814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aba2680814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aba2680814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aba2680814_0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aba2680814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ad026b35bc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3ad026b35b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aba2680814_0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aba2680814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aba2680814_0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aba2680814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aba2680814_0_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3aba2680814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aba2680814_0_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3aba2680814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aba2680814_0_2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3aba2680814_0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aba2680814_0_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3aba2680814_0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aba2680814_0_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3aba2680814_0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aba2680814_0_2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3aba2680814_0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aba2680814_0_2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3aba2680814_0_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aba2680814_0_2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3aba2680814_0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aba2680814_0_2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3aba2680814_0_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ad026b35bc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3ad026b35bc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ae3cbf5cbe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3ae3cbf5cbe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ae3cbf5cbe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3ae3cbf5cbe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ae3cbf5cbe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3ae3cbf5cbe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ae3cbf5cbe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3ae3cbf5cbe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ae3cbf5cbe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3ae3cbf5cbe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ae3cbf5cbe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3ae3cbf5cbe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b06cda56a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3b06cda56a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b06cda56a6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3b06cda56a6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b06cda56a6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3b06cda56a6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b06cda56a6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b06cda56a6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b06cda56a6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3b06cda56a6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b06cda56a6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3b06cda56a6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b06cda56a6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3b06cda56a6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3b06cda56a6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3b06cda56a6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b06cda56a6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" name="Google Shape;481;g3b06cda56a6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b06cda56a6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7" name="Google Shape;487;g3b06cda56a6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b06cda56a6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3b06cda56a6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b138efa10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3b138efa10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b138efa108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3b138efa108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3b138efa108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0" name="Google Shape;510;g3b138efa108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3b138efa108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6" name="Google Shape;516;g3b138efa108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3b138efa108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g3b138efa108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3b138efa108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7" name="Google Shape;527;g3b138efa108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3b138efa108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2" name="Google Shape;532;g3b138efa108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3b138efa108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8" name="Google Shape;538;g3b138efa108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3b138efa108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3" name="Google Shape;543;g3b138efa108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b138efa108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3b138efa108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3b138efa108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3b138efa108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3b138efa108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g3b138efa108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3b138efa108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9" name="Google Shape;569;g3b138efa108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b1e028abb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4" name="Google Shape;574;g3b1e028abb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3b1e028abbd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1" name="Google Shape;581;g3b1e028abbd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3b1e028abbd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7" name="Google Shape;587;g3b1e028abbd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3b3083fd67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" name="Google Shape;593;g3b3083fd67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3b3083fd67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8" name="Google Shape;598;g3b3083fd67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g3b3083fd67c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3" name="Google Shape;603;g3b3083fd67c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3b3083fd67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8" name="Google Shape;608;g3b3083fd67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3b3083fd67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4" name="Google Shape;614;g3b3083fd67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3b3083fd67c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9" name="Google Shape;619;g3b3083fd67c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g3b3083fd67c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5" name="Google Shape;625;g3b3083fd67c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g3b3083fd67c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0" name="Google Shape;630;g3b3083fd67c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3b3083fd67c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5" name="Google Shape;635;g3b3083fd67c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3"/>
          <p:cNvSpPr txBox="1"/>
          <p:nvPr>
            <p:ph type="title"/>
          </p:nvPr>
        </p:nvSpPr>
        <p:spPr>
          <a:xfrm>
            <a:off x="269138" y="206311"/>
            <a:ext cx="4485300" cy="2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1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5" name="Google Shape;275;p13"/>
          <p:cNvSpPr txBox="1"/>
          <p:nvPr>
            <p:ph idx="1" type="body"/>
          </p:nvPr>
        </p:nvSpPr>
        <p:spPr>
          <a:xfrm>
            <a:off x="364160" y="2569805"/>
            <a:ext cx="7953300" cy="19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3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120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120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120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120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120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120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120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1200"/>
              </a:spcBef>
              <a:spcAft>
                <a:spcPts val="1200"/>
              </a:spcAft>
              <a:buSzPts val="1100"/>
              <a:buNone/>
              <a:defRPr/>
            </a:lvl9pPr>
          </a:lstStyle>
          <a:p/>
        </p:txBody>
      </p:sp>
      <p:sp>
        <p:nvSpPr>
          <p:cNvPr id="276" name="Google Shape;276;p13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7" name="Google Shape;277;p13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8" name="Google Shape;278;p13"/>
          <p:cNvSpPr txBox="1"/>
          <p:nvPr>
            <p:ph idx="12" type="sldNum"/>
          </p:nvPr>
        </p:nvSpPr>
        <p:spPr>
          <a:xfrm>
            <a:off x="6583680" y="4783455"/>
            <a:ext cx="2103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4"/>
          <p:cNvSpPr txBox="1"/>
          <p:nvPr>
            <p:ph type="title"/>
          </p:nvPr>
        </p:nvSpPr>
        <p:spPr>
          <a:xfrm>
            <a:off x="269138" y="206311"/>
            <a:ext cx="4485300" cy="2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1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1" name="Google Shape;281;p14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2" name="Google Shape;282;p14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3" name="Google Shape;283;p14"/>
          <p:cNvSpPr txBox="1"/>
          <p:nvPr>
            <p:ph idx="12" type="sldNum"/>
          </p:nvPr>
        </p:nvSpPr>
        <p:spPr>
          <a:xfrm>
            <a:off x="6583680" y="4783455"/>
            <a:ext cx="2103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gif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gif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gif"/><Relationship Id="rId4" Type="http://schemas.openxmlformats.org/officeDocument/2006/relationships/image" Target="../media/image4.gif"/><Relationship Id="rId5" Type="http://schemas.openxmlformats.org/officeDocument/2006/relationships/image" Target="../media/image3.gif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8.png"/><Relationship Id="rId4" Type="http://schemas.openxmlformats.org/officeDocument/2006/relationships/image" Target="../media/image13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0.png"/><Relationship Id="rId4" Type="http://schemas.openxmlformats.org/officeDocument/2006/relationships/image" Target="../media/image12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5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14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5"/>
          <p:cNvSpPr txBox="1"/>
          <p:nvPr>
            <p:ph type="ctrTitle"/>
          </p:nvPr>
        </p:nvSpPr>
        <p:spPr>
          <a:xfrm>
            <a:off x="1680302" y="1188925"/>
            <a:ext cx="5783400" cy="61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Fundamentals of AI/ML</a:t>
            </a:r>
            <a:endParaRPr/>
          </a:p>
        </p:txBody>
      </p:sp>
      <p:sp>
        <p:nvSpPr>
          <p:cNvPr id="289" name="Google Shape;289;p15"/>
          <p:cNvSpPr txBox="1"/>
          <p:nvPr>
            <p:ph idx="1" type="subTitle"/>
          </p:nvPr>
        </p:nvSpPr>
        <p:spPr>
          <a:xfrm>
            <a:off x="3152252" y="2112750"/>
            <a:ext cx="57834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detailed and In-depth Overview</a:t>
            </a:r>
            <a:endParaRPr/>
          </a:p>
        </p:txBody>
      </p:sp>
      <p:sp>
        <p:nvSpPr>
          <p:cNvPr id="290" name="Google Shape;290;p15"/>
          <p:cNvSpPr txBox="1"/>
          <p:nvPr>
            <p:ph idx="1" type="subTitle"/>
          </p:nvPr>
        </p:nvSpPr>
        <p:spPr>
          <a:xfrm>
            <a:off x="624475" y="3914075"/>
            <a:ext cx="59211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By Amandeep Singh Reen - SME(Data and AI)</a:t>
            </a:r>
            <a:endParaRPr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6"/>
          <p:cNvSpPr txBox="1"/>
          <p:nvPr>
            <p:ph type="title"/>
          </p:nvPr>
        </p:nvSpPr>
        <p:spPr>
          <a:xfrm>
            <a:off x="269138" y="206311"/>
            <a:ext cx="4485300" cy="64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200">
                <a:solidFill>
                  <a:srgbClr val="4A86E8"/>
                </a:solidFill>
              </a:rPr>
              <a:t>Index of the Series</a:t>
            </a:r>
            <a:endParaRPr sz="4200">
              <a:solidFill>
                <a:srgbClr val="4A86E8"/>
              </a:solidFill>
            </a:endParaRPr>
          </a:p>
        </p:txBody>
      </p:sp>
      <p:sp>
        <p:nvSpPr>
          <p:cNvPr id="296" name="Google Shape;296;p16"/>
          <p:cNvSpPr txBox="1"/>
          <p:nvPr>
            <p:ph idx="1" type="body"/>
          </p:nvPr>
        </p:nvSpPr>
        <p:spPr>
          <a:xfrm>
            <a:off x="269150" y="1170875"/>
            <a:ext cx="8663100" cy="348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GB" sz="2500"/>
              <a:t>Various Types of Dataset (Mathematical interpretation)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GB" sz="2500"/>
              <a:t>Ingestion of Data from various Data-points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GB" sz="2500"/>
              <a:t>Choosing a Model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GB" sz="2500"/>
              <a:t>Implementing model with best practice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GB" sz="2500"/>
              <a:t>Overcoming Training issues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GB" sz="2500"/>
              <a:t>Adding weak learning or strong learners selection techniques (Boosting and Bagging)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GB" sz="2500"/>
              <a:t>Evaluation and business value</a:t>
            </a:r>
            <a:endParaRPr sz="2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7"/>
          <p:cNvSpPr txBox="1"/>
          <p:nvPr>
            <p:ph type="title"/>
          </p:nvPr>
        </p:nvSpPr>
        <p:spPr>
          <a:xfrm>
            <a:off x="925550" y="981300"/>
            <a:ext cx="7437900" cy="769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GB" sz="2500">
                <a:latin typeface="Calibri"/>
                <a:ea typeface="Calibri"/>
                <a:cs typeface="Calibri"/>
                <a:sym typeface="Calibri"/>
              </a:rPr>
              <a:t>Various Types of Dataset (Mathematical interpretation)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8"/>
          <p:cNvSpPr txBox="1"/>
          <p:nvPr>
            <p:ph type="title"/>
          </p:nvPr>
        </p:nvSpPr>
        <p:spPr>
          <a:xfrm>
            <a:off x="269159" y="206300"/>
            <a:ext cx="79533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>
                <a:solidFill>
                  <a:srgbClr val="4A86E8"/>
                </a:solidFill>
              </a:rPr>
              <a:t>Why Data Verification Matters</a:t>
            </a:r>
            <a:endParaRPr sz="4000">
              <a:solidFill>
                <a:srgbClr val="4A86E8"/>
              </a:solidFill>
            </a:endParaRPr>
          </a:p>
        </p:txBody>
      </p:sp>
      <p:sp>
        <p:nvSpPr>
          <p:cNvPr id="307" name="Google Shape;307;p18"/>
          <p:cNvSpPr txBox="1"/>
          <p:nvPr>
            <p:ph idx="1" type="body"/>
          </p:nvPr>
        </p:nvSpPr>
        <p:spPr>
          <a:xfrm>
            <a:off x="364160" y="1465829"/>
            <a:ext cx="7953300" cy="20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/>
              <a:t>Data is the backbone of IT systems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/>
              <a:t>Errors → security breaches, compliance failures, poor decisions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/>
              <a:t>Example: Duplicate financial transactions → monetary loss</a:t>
            </a:r>
            <a:endParaRPr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9"/>
          <p:cNvSpPr txBox="1"/>
          <p:nvPr>
            <p:ph type="title"/>
          </p:nvPr>
        </p:nvSpPr>
        <p:spPr>
          <a:xfrm>
            <a:off x="269159" y="206300"/>
            <a:ext cx="79533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>
                <a:solidFill>
                  <a:srgbClr val="4A86E8"/>
                </a:solidFill>
              </a:rPr>
              <a:t>Types of Datasets in IT</a:t>
            </a:r>
            <a:endParaRPr sz="4000">
              <a:solidFill>
                <a:srgbClr val="4A86E8"/>
              </a:solidFill>
            </a:endParaRPr>
          </a:p>
        </p:txBody>
      </p:sp>
      <p:sp>
        <p:nvSpPr>
          <p:cNvPr id="313" name="Google Shape;313;p19"/>
          <p:cNvSpPr txBox="1"/>
          <p:nvPr>
            <p:ph idx="1" type="body"/>
          </p:nvPr>
        </p:nvSpPr>
        <p:spPr>
          <a:xfrm>
            <a:off x="364160" y="1465829"/>
            <a:ext cx="7953300" cy="1644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1" lang="en-GB" sz="2400">
                <a:latin typeface="Arial"/>
                <a:ea typeface="Arial"/>
                <a:cs typeface="Arial"/>
                <a:sym typeface="Arial"/>
              </a:rPr>
              <a:t>Structured:</a:t>
            </a:r>
            <a:r>
              <a:rPr lang="en-GB" sz="2400">
                <a:latin typeface="Arial"/>
                <a:ea typeface="Arial"/>
                <a:cs typeface="Arial"/>
                <a:sym typeface="Arial"/>
              </a:rPr>
              <a:t> Databases, tables, logs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1" lang="en-GB" sz="2400">
                <a:latin typeface="Arial"/>
                <a:ea typeface="Arial"/>
                <a:cs typeface="Arial"/>
                <a:sym typeface="Arial"/>
              </a:rPr>
              <a:t>Semi-structured:</a:t>
            </a:r>
            <a:r>
              <a:rPr lang="en-GB" sz="2400">
                <a:latin typeface="Arial"/>
                <a:ea typeface="Arial"/>
                <a:cs typeface="Arial"/>
                <a:sym typeface="Arial"/>
              </a:rPr>
              <a:t> JSON, XML, NoSQL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1" lang="en-GB" sz="2400">
                <a:latin typeface="Arial"/>
                <a:ea typeface="Arial"/>
                <a:cs typeface="Arial"/>
                <a:sym typeface="Arial"/>
              </a:rPr>
              <a:t>Unstructured:</a:t>
            </a:r>
            <a:r>
              <a:rPr lang="en-GB" sz="2400">
                <a:latin typeface="Arial"/>
                <a:ea typeface="Arial"/>
                <a:cs typeface="Arial"/>
                <a:sym typeface="Arial"/>
              </a:rPr>
              <a:t> Text, images, sensor data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1" lang="en-GB" sz="2400">
                <a:latin typeface="Arial"/>
                <a:ea typeface="Arial"/>
                <a:cs typeface="Arial"/>
                <a:sym typeface="Arial"/>
              </a:rPr>
              <a:t>Streaming:</a:t>
            </a:r>
            <a:r>
              <a:rPr lang="en-GB" sz="2400">
                <a:latin typeface="Arial"/>
                <a:ea typeface="Arial"/>
                <a:cs typeface="Arial"/>
                <a:sym typeface="Arial"/>
              </a:rPr>
              <a:t> IoT feeds, real-time logs</a:t>
            </a:r>
            <a:endParaRPr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8" name="Google Shape;318;p20" title="Screenshot 2025-12-03 at 1.25.2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8375"/>
            <a:ext cx="7704250" cy="4902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1"/>
          <p:cNvSpPr txBox="1"/>
          <p:nvPr>
            <p:ph type="title"/>
          </p:nvPr>
        </p:nvSpPr>
        <p:spPr>
          <a:xfrm>
            <a:off x="269159" y="206300"/>
            <a:ext cx="79533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>
                <a:solidFill>
                  <a:srgbClr val="4A86E8"/>
                </a:solidFill>
              </a:rPr>
              <a:t>Challenges in Verification</a:t>
            </a:r>
            <a:endParaRPr sz="4000">
              <a:solidFill>
                <a:srgbClr val="4A86E8"/>
              </a:solidFill>
            </a:endParaRPr>
          </a:p>
        </p:txBody>
      </p:sp>
      <p:sp>
        <p:nvSpPr>
          <p:cNvPr id="324" name="Google Shape;324;p21"/>
          <p:cNvSpPr txBox="1"/>
          <p:nvPr>
            <p:ph idx="1" type="body"/>
          </p:nvPr>
        </p:nvSpPr>
        <p:spPr>
          <a:xfrm>
            <a:off x="364160" y="1465829"/>
            <a:ext cx="7953300" cy="1644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Schema drift in databases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Inconsistent formats across systems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Missing or corrupted values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High volume &amp; velocity in streaming data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2"/>
          <p:cNvSpPr txBox="1"/>
          <p:nvPr>
            <p:ph type="title"/>
          </p:nvPr>
        </p:nvSpPr>
        <p:spPr>
          <a:xfrm>
            <a:off x="269159" y="206300"/>
            <a:ext cx="79533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>
                <a:solidFill>
                  <a:srgbClr val="4A86E8"/>
                </a:solidFill>
              </a:rPr>
              <a:t>Mathematical Tools Overview</a:t>
            </a:r>
            <a:endParaRPr sz="4000">
              <a:solidFill>
                <a:srgbClr val="4A86E8"/>
              </a:solidFill>
            </a:endParaRPr>
          </a:p>
        </p:txBody>
      </p:sp>
      <p:sp>
        <p:nvSpPr>
          <p:cNvPr id="330" name="Google Shape;330;p22"/>
          <p:cNvSpPr txBox="1"/>
          <p:nvPr>
            <p:ph idx="1" type="body"/>
          </p:nvPr>
        </p:nvSpPr>
        <p:spPr>
          <a:xfrm>
            <a:off x="364160" y="1465829"/>
            <a:ext cx="7953300" cy="2918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1" lang="en-GB" sz="2400">
                <a:latin typeface="Arial"/>
                <a:ea typeface="Arial"/>
                <a:cs typeface="Arial"/>
                <a:sym typeface="Arial"/>
              </a:rPr>
              <a:t>Set Theory:</a:t>
            </a:r>
            <a:r>
              <a:rPr lang="en-GB" sz="2400">
                <a:latin typeface="Arial"/>
                <a:ea typeface="Arial"/>
                <a:cs typeface="Arial"/>
                <a:sym typeface="Arial"/>
              </a:rPr>
              <a:t> Uniqueness, duplicates, intersections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1" lang="en-GB" sz="2400">
                <a:latin typeface="Arial"/>
                <a:ea typeface="Arial"/>
                <a:cs typeface="Arial"/>
                <a:sym typeface="Arial"/>
              </a:rPr>
              <a:t>Probability &amp; Statistics:</a:t>
            </a:r>
            <a:r>
              <a:rPr lang="en-GB" sz="2400">
                <a:latin typeface="Arial"/>
                <a:ea typeface="Arial"/>
                <a:cs typeface="Arial"/>
                <a:sym typeface="Arial"/>
              </a:rPr>
              <a:t> Outlier detection, distribution checks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1" lang="en-GB" sz="2400">
                <a:latin typeface="Arial"/>
                <a:ea typeface="Arial"/>
                <a:cs typeface="Arial"/>
                <a:sym typeface="Arial"/>
              </a:rPr>
              <a:t>Linear Algebra:</a:t>
            </a:r>
            <a:r>
              <a:rPr lang="en-GB" sz="2400">
                <a:latin typeface="Arial"/>
                <a:ea typeface="Arial"/>
                <a:cs typeface="Arial"/>
                <a:sym typeface="Arial"/>
              </a:rPr>
              <a:t> Matrix consistency in multidimensional data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1" lang="en-GB" sz="2400">
                <a:latin typeface="Arial"/>
                <a:ea typeface="Arial"/>
                <a:cs typeface="Arial"/>
                <a:sym typeface="Arial"/>
              </a:rPr>
              <a:t>Graph Theory:</a:t>
            </a:r>
            <a:r>
              <a:rPr lang="en-GB" sz="2400">
                <a:latin typeface="Arial"/>
                <a:ea typeface="Arial"/>
                <a:cs typeface="Arial"/>
                <a:sym typeface="Arial"/>
              </a:rPr>
              <a:t> Relationship validation in networks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1" lang="en-GB" sz="2400">
                <a:latin typeface="Arial"/>
                <a:ea typeface="Arial"/>
                <a:cs typeface="Arial"/>
                <a:sym typeface="Arial"/>
              </a:rPr>
              <a:t>Number Theory &amp; Hashing:</a:t>
            </a:r>
            <a:r>
              <a:rPr lang="en-GB" sz="2400">
                <a:latin typeface="Arial"/>
                <a:ea typeface="Arial"/>
                <a:cs typeface="Arial"/>
                <a:sym typeface="Arial"/>
              </a:rPr>
              <a:t> Checksums, file integrity</a:t>
            </a:r>
            <a:endParaRPr b="1" sz="2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3"/>
          <p:cNvSpPr txBox="1"/>
          <p:nvPr>
            <p:ph type="title"/>
          </p:nvPr>
        </p:nvSpPr>
        <p:spPr>
          <a:xfrm>
            <a:off x="269159" y="206300"/>
            <a:ext cx="79533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>
                <a:solidFill>
                  <a:srgbClr val="4A86E8"/>
                </a:solidFill>
              </a:rPr>
              <a:t>Set Theory in Action</a:t>
            </a:r>
            <a:endParaRPr sz="4000">
              <a:solidFill>
                <a:srgbClr val="4A86E8"/>
              </a:solidFill>
            </a:endParaRPr>
          </a:p>
        </p:txBody>
      </p:sp>
      <p:sp>
        <p:nvSpPr>
          <p:cNvPr id="336" name="Google Shape;336;p23"/>
          <p:cNvSpPr txBox="1"/>
          <p:nvPr>
            <p:ph idx="1" type="body"/>
          </p:nvPr>
        </p:nvSpPr>
        <p:spPr>
          <a:xfrm>
            <a:off x="372985" y="1580704"/>
            <a:ext cx="7953300" cy="12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Verify unique IDs across systems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Detect duplicates in transaction logs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Example: Ensuring employee IDs are not repeated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olor venn diagram, graph circle general intersection. Way of displaying information in form of crossing circles. Mathematical infographic. 3 intersection area. Vector illustration (provided by Getty Images)" id="337" name="Google Shape;33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917550"/>
            <a:ext cx="7539999" cy="207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4"/>
          <p:cNvSpPr txBox="1"/>
          <p:nvPr>
            <p:ph type="title"/>
          </p:nvPr>
        </p:nvSpPr>
        <p:spPr>
          <a:xfrm>
            <a:off x="269159" y="206300"/>
            <a:ext cx="79533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>
                <a:solidFill>
                  <a:srgbClr val="4A86E8"/>
                </a:solidFill>
              </a:rPr>
              <a:t>Probability &amp; Statistics</a:t>
            </a:r>
            <a:endParaRPr sz="4000">
              <a:solidFill>
                <a:srgbClr val="4A86E8"/>
              </a:solidFill>
            </a:endParaRPr>
          </a:p>
        </p:txBody>
      </p:sp>
      <p:sp>
        <p:nvSpPr>
          <p:cNvPr id="343" name="Google Shape;343;p24"/>
          <p:cNvSpPr txBox="1"/>
          <p:nvPr>
            <p:ph idx="1" type="body"/>
          </p:nvPr>
        </p:nvSpPr>
        <p:spPr>
          <a:xfrm>
            <a:off x="364160" y="1465829"/>
            <a:ext cx="7953300" cy="12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Spot anomalies in server response times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Hypothesis testing for data quality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Example: Detecting abnormal login attempts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hart and graph (provided by Getty Images)" id="344" name="Google Shape;34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5350" y="3250800"/>
            <a:ext cx="5951227" cy="172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5"/>
          <p:cNvSpPr txBox="1"/>
          <p:nvPr>
            <p:ph type="title"/>
          </p:nvPr>
        </p:nvSpPr>
        <p:spPr>
          <a:xfrm>
            <a:off x="269159" y="206300"/>
            <a:ext cx="79533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>
                <a:solidFill>
                  <a:srgbClr val="4A86E8"/>
                </a:solidFill>
              </a:rPr>
              <a:t>Linear Algebra Applications</a:t>
            </a:r>
            <a:endParaRPr sz="4000">
              <a:solidFill>
                <a:srgbClr val="4A86E8"/>
              </a:solidFill>
            </a:endParaRPr>
          </a:p>
        </p:txBody>
      </p:sp>
      <p:sp>
        <p:nvSpPr>
          <p:cNvPr id="350" name="Google Shape;350;p25"/>
          <p:cNvSpPr txBox="1"/>
          <p:nvPr>
            <p:ph idx="1" type="body"/>
          </p:nvPr>
        </p:nvSpPr>
        <p:spPr>
          <a:xfrm>
            <a:off x="364160" y="1465829"/>
            <a:ext cx="7953300" cy="12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Validate embeddings in ML pipelines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Check consistency in multidimensional datasets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Example: Image recognition vectors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Math Science Education Vector Seamless Pattern (provided by Getty Images)" id="351" name="Google Shape;35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3925" y="2837400"/>
            <a:ext cx="4979676" cy="21536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6"/>
          <p:cNvSpPr txBox="1"/>
          <p:nvPr>
            <p:ph type="title"/>
          </p:nvPr>
        </p:nvSpPr>
        <p:spPr>
          <a:xfrm>
            <a:off x="269159" y="206300"/>
            <a:ext cx="79533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>
                <a:solidFill>
                  <a:srgbClr val="4A86E8"/>
                </a:solidFill>
              </a:rPr>
              <a:t>Graph Theory Applications</a:t>
            </a:r>
            <a:endParaRPr sz="4000">
              <a:solidFill>
                <a:srgbClr val="4A86E8"/>
              </a:solidFill>
            </a:endParaRPr>
          </a:p>
        </p:txBody>
      </p:sp>
      <p:sp>
        <p:nvSpPr>
          <p:cNvPr id="357" name="Google Shape;357;p26"/>
          <p:cNvSpPr txBox="1"/>
          <p:nvPr>
            <p:ph idx="1" type="body"/>
          </p:nvPr>
        </p:nvSpPr>
        <p:spPr>
          <a:xfrm>
            <a:off x="364160" y="1328654"/>
            <a:ext cx="7953300" cy="1644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Verify relationships in social networks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Detect broken links in IT infrastructure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Example: Ensuring all nodes in a network are connected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binary code with a circle in the middle that says ' 00 ' on it (provided by Tenor)" id="358" name="Google Shape;35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125050"/>
            <a:ext cx="6842750" cy="1866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7"/>
          <p:cNvSpPr txBox="1"/>
          <p:nvPr>
            <p:ph type="title"/>
          </p:nvPr>
        </p:nvSpPr>
        <p:spPr>
          <a:xfrm>
            <a:off x="269159" y="206300"/>
            <a:ext cx="79533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>
                <a:solidFill>
                  <a:srgbClr val="4A86E8"/>
                </a:solidFill>
              </a:rPr>
              <a:t>Hashing &amp; Number Theory</a:t>
            </a:r>
            <a:endParaRPr sz="4000">
              <a:solidFill>
                <a:srgbClr val="4A86E8"/>
              </a:solidFill>
            </a:endParaRPr>
          </a:p>
        </p:txBody>
      </p:sp>
      <p:sp>
        <p:nvSpPr>
          <p:cNvPr id="364" name="Google Shape;364;p27"/>
          <p:cNvSpPr txBox="1"/>
          <p:nvPr>
            <p:ph idx="1" type="body"/>
          </p:nvPr>
        </p:nvSpPr>
        <p:spPr>
          <a:xfrm>
            <a:off x="364160" y="1465829"/>
            <a:ext cx="7953300" cy="12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Use checksums to detect corruption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Hash functions for file verification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Example: Verifying log files during transfer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bunch of numbers on a black background (provided by Tenor)" id="365" name="Google Shape;36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8675" y="2974675"/>
            <a:ext cx="6732275" cy="197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8"/>
          <p:cNvSpPr txBox="1"/>
          <p:nvPr>
            <p:ph type="title"/>
          </p:nvPr>
        </p:nvSpPr>
        <p:spPr>
          <a:xfrm>
            <a:off x="269159" y="206300"/>
            <a:ext cx="79533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>
                <a:solidFill>
                  <a:srgbClr val="4A86E8"/>
                </a:solidFill>
              </a:rPr>
              <a:t>Verification Techniques</a:t>
            </a:r>
            <a:endParaRPr sz="4000">
              <a:solidFill>
                <a:srgbClr val="4A86E8"/>
              </a:solidFill>
            </a:endParaRPr>
          </a:p>
        </p:txBody>
      </p:sp>
      <p:sp>
        <p:nvSpPr>
          <p:cNvPr id="371" name="Google Shape;371;p28"/>
          <p:cNvSpPr txBox="1"/>
          <p:nvPr>
            <p:ph idx="1" type="body"/>
          </p:nvPr>
        </p:nvSpPr>
        <p:spPr>
          <a:xfrm>
            <a:off x="364160" y="1465829"/>
            <a:ext cx="7953300" cy="1644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Consistency checks (schema validation)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Redundancy checks (cross-source validation)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Error detection codes (parity, CRC)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Sampling &amp; hypothesis testing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aper cut Verification of delivery list clipboard icon isolated on blue background. Paper art style. Vector Illustration (provided by Getty Images)" id="372" name="Google Shape;37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2950" y="3307925"/>
            <a:ext cx="7388027" cy="1728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9"/>
          <p:cNvSpPr txBox="1"/>
          <p:nvPr>
            <p:ph type="ctrTitle"/>
          </p:nvPr>
        </p:nvSpPr>
        <p:spPr>
          <a:xfrm>
            <a:off x="1680302" y="2114475"/>
            <a:ext cx="5783400" cy="61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Hands - ON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0"/>
          <p:cNvSpPr txBox="1"/>
          <p:nvPr>
            <p:ph type="title"/>
          </p:nvPr>
        </p:nvSpPr>
        <p:spPr>
          <a:xfrm>
            <a:off x="269159" y="206300"/>
            <a:ext cx="79533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>
                <a:solidFill>
                  <a:srgbClr val="4A86E8"/>
                </a:solidFill>
              </a:rPr>
              <a:t>Key Takeaways</a:t>
            </a:r>
            <a:endParaRPr sz="4000">
              <a:solidFill>
                <a:srgbClr val="4A86E8"/>
              </a:solidFill>
            </a:endParaRPr>
          </a:p>
        </p:txBody>
      </p:sp>
      <p:sp>
        <p:nvSpPr>
          <p:cNvPr id="383" name="Google Shape;383;p30"/>
          <p:cNvSpPr txBox="1"/>
          <p:nvPr>
            <p:ph idx="1" type="body"/>
          </p:nvPr>
        </p:nvSpPr>
        <p:spPr>
          <a:xfrm>
            <a:off x="364160" y="1465829"/>
            <a:ext cx="7953300" cy="1644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Mathematical rigor ensures trust in IT data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Different datasets need different verification approaches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Automation + math = scalable solutions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white check mark in a blue circle on a white background (provided by Tenor)" id="384" name="Google Shape;38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70075" y="3353655"/>
            <a:ext cx="2236305" cy="17288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star with a white check mark inside (provided by Tenor)" id="385" name="Google Shape;385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41175" y="3353655"/>
            <a:ext cx="2577777" cy="17288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circle with a check mark inside of it (provided by Tenor)" id="386" name="Google Shape;386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8030" y="3353655"/>
            <a:ext cx="1728870" cy="17288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1"/>
          <p:cNvSpPr txBox="1"/>
          <p:nvPr>
            <p:ph type="title"/>
          </p:nvPr>
        </p:nvSpPr>
        <p:spPr>
          <a:xfrm>
            <a:off x="269159" y="206300"/>
            <a:ext cx="79533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>
                <a:solidFill>
                  <a:srgbClr val="4A86E8"/>
                </a:solidFill>
              </a:rPr>
              <a:t>Conclusion</a:t>
            </a:r>
            <a:r>
              <a:rPr lang="en-GB" sz="4000">
                <a:solidFill>
                  <a:srgbClr val="4A86E8"/>
                </a:solidFill>
              </a:rPr>
              <a:t> </a:t>
            </a:r>
            <a:endParaRPr sz="4000">
              <a:solidFill>
                <a:srgbClr val="4A86E8"/>
              </a:solidFill>
            </a:endParaRPr>
          </a:p>
        </p:txBody>
      </p:sp>
      <p:sp>
        <p:nvSpPr>
          <p:cNvPr id="392" name="Google Shape;392;p31"/>
          <p:cNvSpPr txBox="1"/>
          <p:nvPr>
            <p:ph idx="1" type="body"/>
          </p:nvPr>
        </p:nvSpPr>
        <p:spPr>
          <a:xfrm>
            <a:off x="364160" y="1465829"/>
            <a:ext cx="7953300" cy="2647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Summarize: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Set theory → uniqueness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Statistics → anomalies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Linear algebra → consistency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Graph theory → connectivity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Hashing → integrity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32"/>
          <p:cNvSpPr txBox="1"/>
          <p:nvPr>
            <p:ph type="title"/>
          </p:nvPr>
        </p:nvSpPr>
        <p:spPr>
          <a:xfrm>
            <a:off x="925550" y="981300"/>
            <a:ext cx="7437900" cy="38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8735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GB" sz="2500">
                <a:latin typeface="Calibri"/>
                <a:ea typeface="Calibri"/>
                <a:cs typeface="Calibri"/>
                <a:sym typeface="Calibri"/>
              </a:rPr>
              <a:t>Ingestion of Data from various Data-points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3"/>
          <p:cNvSpPr txBox="1"/>
          <p:nvPr>
            <p:ph type="title"/>
          </p:nvPr>
        </p:nvSpPr>
        <p:spPr>
          <a:xfrm>
            <a:off x="269159" y="206300"/>
            <a:ext cx="79533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>
                <a:solidFill>
                  <a:srgbClr val="4A86E8"/>
                </a:solidFill>
              </a:rPr>
              <a:t>I</a:t>
            </a:r>
            <a:r>
              <a:rPr lang="en-GB" sz="4000">
                <a:solidFill>
                  <a:srgbClr val="4A86E8"/>
                </a:solidFill>
              </a:rPr>
              <a:t>ntroduction</a:t>
            </a:r>
            <a:endParaRPr sz="4000">
              <a:solidFill>
                <a:srgbClr val="4A86E8"/>
              </a:solidFill>
            </a:endParaRPr>
          </a:p>
        </p:txBody>
      </p:sp>
      <p:sp>
        <p:nvSpPr>
          <p:cNvPr id="403" name="Google Shape;403;p33"/>
          <p:cNvSpPr txBox="1"/>
          <p:nvPr>
            <p:ph idx="1" type="body"/>
          </p:nvPr>
        </p:nvSpPr>
        <p:spPr>
          <a:xfrm>
            <a:off x="364160" y="1465829"/>
            <a:ext cx="7953300" cy="20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Importance of data ingestion in ML/AI workflows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Explosion of heterogeneous data sources (structured, semi‑structured, unstructured)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Framing: “Without reliable ingestion, downstream ML models fail”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4"/>
          <p:cNvSpPr txBox="1"/>
          <p:nvPr>
            <p:ph type="title"/>
          </p:nvPr>
        </p:nvSpPr>
        <p:spPr>
          <a:xfrm>
            <a:off x="269159" y="206300"/>
            <a:ext cx="79533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>
                <a:solidFill>
                  <a:srgbClr val="4A86E8"/>
                </a:solidFill>
              </a:rPr>
              <a:t>Types of Data Sources</a:t>
            </a:r>
            <a:endParaRPr sz="4000">
              <a:solidFill>
                <a:srgbClr val="4A86E8"/>
              </a:solidFill>
            </a:endParaRPr>
          </a:p>
        </p:txBody>
      </p:sp>
      <p:sp>
        <p:nvSpPr>
          <p:cNvPr id="409" name="Google Shape;409;p34"/>
          <p:cNvSpPr txBox="1"/>
          <p:nvPr>
            <p:ph idx="1" type="body"/>
          </p:nvPr>
        </p:nvSpPr>
        <p:spPr>
          <a:xfrm>
            <a:off x="364160" y="1465829"/>
            <a:ext cx="7953300" cy="20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Databases (SQL, NoSQL)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Streaming sources (IoT sensors, logs, clickstreams)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APIs &amp; SaaS platforms (social media, CRM, ERP)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Files &amp; cloud storage (CSV, JSON, S3, GCS)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Enterprise systems (transactional, operational)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35"/>
          <p:cNvSpPr txBox="1"/>
          <p:nvPr>
            <p:ph type="title"/>
          </p:nvPr>
        </p:nvSpPr>
        <p:spPr>
          <a:xfrm>
            <a:off x="269159" y="206300"/>
            <a:ext cx="79533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>
                <a:solidFill>
                  <a:srgbClr val="4A86E8"/>
                </a:solidFill>
              </a:rPr>
              <a:t>Ingestion Paradigms</a:t>
            </a:r>
            <a:endParaRPr sz="4000">
              <a:solidFill>
                <a:srgbClr val="4A86E8"/>
              </a:solidFill>
            </a:endParaRPr>
          </a:p>
        </p:txBody>
      </p:sp>
      <p:sp>
        <p:nvSpPr>
          <p:cNvPr id="415" name="Google Shape;415;p35"/>
          <p:cNvSpPr txBox="1"/>
          <p:nvPr>
            <p:ph idx="1" type="body"/>
          </p:nvPr>
        </p:nvSpPr>
        <p:spPr>
          <a:xfrm>
            <a:off x="364160" y="1465829"/>
            <a:ext cx="7953300" cy="1644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●"/>
            </a:pPr>
            <a:r>
              <a:rPr b="1" lang="en-GB" sz="2400">
                <a:latin typeface="Arial"/>
                <a:ea typeface="Arial"/>
                <a:cs typeface="Arial"/>
                <a:sym typeface="Arial"/>
              </a:rPr>
              <a:t>Batch ingestion</a:t>
            </a:r>
            <a:r>
              <a:rPr lang="en-GB" sz="2400">
                <a:latin typeface="Arial"/>
                <a:ea typeface="Arial"/>
                <a:cs typeface="Arial"/>
                <a:sym typeface="Arial"/>
              </a:rPr>
              <a:t>: scheduled ETL jobs, nightly loads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●"/>
            </a:pPr>
            <a:r>
              <a:rPr b="1" lang="en-GB" sz="2400">
                <a:latin typeface="Arial"/>
                <a:ea typeface="Arial"/>
                <a:cs typeface="Arial"/>
                <a:sym typeface="Arial"/>
              </a:rPr>
              <a:t>Real‑time ingestion</a:t>
            </a:r>
            <a:r>
              <a:rPr lang="en-GB" sz="2400">
                <a:latin typeface="Arial"/>
                <a:ea typeface="Arial"/>
                <a:cs typeface="Arial"/>
                <a:sym typeface="Arial"/>
              </a:rPr>
              <a:t>: Kafka, Flink, Spark Streaming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●"/>
            </a:pPr>
            <a:r>
              <a:rPr b="1" lang="en-GB" sz="2400">
                <a:latin typeface="Arial"/>
                <a:ea typeface="Arial"/>
                <a:cs typeface="Arial"/>
                <a:sym typeface="Arial"/>
              </a:rPr>
              <a:t>Hybrid approaches</a:t>
            </a:r>
            <a:r>
              <a:rPr lang="en-GB" sz="2400">
                <a:latin typeface="Arial"/>
                <a:ea typeface="Arial"/>
                <a:cs typeface="Arial"/>
                <a:sym typeface="Arial"/>
              </a:rPr>
              <a:t>: Lambda vs Kappa architectures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●"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Trade‑offs: latency vs cost, consistency vs availability</a:t>
            </a:r>
            <a:endParaRPr b="1" sz="2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36"/>
          <p:cNvSpPr txBox="1"/>
          <p:nvPr>
            <p:ph type="title"/>
          </p:nvPr>
        </p:nvSpPr>
        <p:spPr>
          <a:xfrm>
            <a:off x="269159" y="206300"/>
            <a:ext cx="79533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>
                <a:solidFill>
                  <a:srgbClr val="4A86E8"/>
                </a:solidFill>
              </a:rPr>
              <a:t>Architectures &amp; Tools</a:t>
            </a:r>
            <a:endParaRPr sz="4000">
              <a:solidFill>
                <a:srgbClr val="4A86E8"/>
              </a:solidFill>
            </a:endParaRPr>
          </a:p>
        </p:txBody>
      </p:sp>
      <p:sp>
        <p:nvSpPr>
          <p:cNvPr id="421" name="Google Shape;421;p36"/>
          <p:cNvSpPr txBox="1"/>
          <p:nvPr>
            <p:ph idx="1" type="body"/>
          </p:nvPr>
        </p:nvSpPr>
        <p:spPr>
          <a:xfrm>
            <a:off x="364160" y="1465829"/>
            <a:ext cx="7953300" cy="2918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ETL vs ELT — when to transform before vs after loading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Data lakes vs warehouses — ingestion implications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Tools: Apache NiFi, Airbyte, Fivetran, Kafka, Pulsar, Kinesis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Patterns: schema registry, CDC (Change Data Capture), event sourcing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37"/>
          <p:cNvSpPr txBox="1"/>
          <p:nvPr>
            <p:ph type="ctrTitle"/>
          </p:nvPr>
        </p:nvSpPr>
        <p:spPr>
          <a:xfrm>
            <a:off x="1680302" y="2114475"/>
            <a:ext cx="5783400" cy="61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Hands - ON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38"/>
          <p:cNvSpPr txBox="1"/>
          <p:nvPr>
            <p:ph type="title"/>
          </p:nvPr>
        </p:nvSpPr>
        <p:spPr>
          <a:xfrm>
            <a:off x="269159" y="206300"/>
            <a:ext cx="79533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>
                <a:solidFill>
                  <a:srgbClr val="4A86E8"/>
                </a:solidFill>
              </a:rPr>
              <a:t>Future Trends</a:t>
            </a:r>
            <a:endParaRPr sz="4000">
              <a:solidFill>
                <a:srgbClr val="4A86E8"/>
              </a:solidFill>
            </a:endParaRPr>
          </a:p>
        </p:txBody>
      </p:sp>
      <p:sp>
        <p:nvSpPr>
          <p:cNvPr id="432" name="Google Shape;432;p38"/>
          <p:cNvSpPr txBox="1"/>
          <p:nvPr>
            <p:ph idx="1" type="body"/>
          </p:nvPr>
        </p:nvSpPr>
        <p:spPr>
          <a:xfrm>
            <a:off x="364160" y="1465829"/>
            <a:ext cx="7953300" cy="20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Data mesh and federated ingestion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AI‑driven pipeline optimization (self‑healing ingestion)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Edge ingestion for IoT/5G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Privacy‑preserving ingestion (federated learning, synthetic data)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39"/>
          <p:cNvSpPr txBox="1"/>
          <p:nvPr>
            <p:ph type="title"/>
          </p:nvPr>
        </p:nvSpPr>
        <p:spPr>
          <a:xfrm>
            <a:off x="925550" y="981300"/>
            <a:ext cx="7437900" cy="38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8735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GB" sz="2500">
                <a:latin typeface="Calibri"/>
                <a:ea typeface="Calibri"/>
                <a:cs typeface="Calibri"/>
                <a:sym typeface="Calibri"/>
              </a:rPr>
              <a:t>Choosing a Model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40"/>
          <p:cNvSpPr txBox="1"/>
          <p:nvPr>
            <p:ph type="title"/>
          </p:nvPr>
        </p:nvSpPr>
        <p:spPr>
          <a:xfrm>
            <a:off x="821899" y="2017650"/>
            <a:ext cx="7255800" cy="769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/>
              <a:t>Model choice = balancing practicality with performance</a:t>
            </a:r>
            <a:endParaRPr sz="25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41"/>
          <p:cNvSpPr txBox="1"/>
          <p:nvPr>
            <p:ph type="title"/>
          </p:nvPr>
        </p:nvSpPr>
        <p:spPr>
          <a:xfrm>
            <a:off x="269159" y="206300"/>
            <a:ext cx="79533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>
                <a:solidFill>
                  <a:srgbClr val="4A86E8"/>
                </a:solidFill>
              </a:rPr>
              <a:t>Problem Framing</a:t>
            </a:r>
            <a:endParaRPr sz="4000">
              <a:solidFill>
                <a:srgbClr val="4A86E8"/>
              </a:solidFill>
            </a:endParaRPr>
          </a:p>
        </p:txBody>
      </p:sp>
      <p:sp>
        <p:nvSpPr>
          <p:cNvPr id="448" name="Google Shape;448;p41"/>
          <p:cNvSpPr txBox="1"/>
          <p:nvPr>
            <p:ph idx="1" type="body"/>
          </p:nvPr>
        </p:nvSpPr>
        <p:spPr>
          <a:xfrm>
            <a:off x="364160" y="1465829"/>
            <a:ext cx="7953300" cy="12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Define task: classification, regression, generative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●"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Structured vs. unstructured data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●"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Clarify business objective before model choice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42"/>
          <p:cNvSpPr txBox="1"/>
          <p:nvPr>
            <p:ph type="title"/>
          </p:nvPr>
        </p:nvSpPr>
        <p:spPr>
          <a:xfrm>
            <a:off x="269159" y="206300"/>
            <a:ext cx="79533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>
                <a:solidFill>
                  <a:srgbClr val="4A86E8"/>
                </a:solidFill>
              </a:rPr>
              <a:t>Data Characteristics</a:t>
            </a:r>
            <a:endParaRPr sz="4000">
              <a:solidFill>
                <a:srgbClr val="4A86E8"/>
              </a:solidFill>
            </a:endParaRPr>
          </a:p>
        </p:txBody>
      </p:sp>
      <p:sp>
        <p:nvSpPr>
          <p:cNvPr id="454" name="Google Shape;454;p42"/>
          <p:cNvSpPr txBox="1"/>
          <p:nvPr>
            <p:ph idx="1" type="body"/>
          </p:nvPr>
        </p:nvSpPr>
        <p:spPr>
          <a:xfrm>
            <a:off x="364160" y="1465829"/>
            <a:ext cx="7953300" cy="12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●"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Volume, dimensionality, sparsity, noise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●"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Labeled vs. unlabeled data availability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●"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Data quality drives model effectiveness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43"/>
          <p:cNvSpPr txBox="1"/>
          <p:nvPr>
            <p:ph type="title"/>
          </p:nvPr>
        </p:nvSpPr>
        <p:spPr>
          <a:xfrm>
            <a:off x="269159" y="206300"/>
            <a:ext cx="79533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>
                <a:solidFill>
                  <a:srgbClr val="4A86E8"/>
                </a:solidFill>
              </a:rPr>
              <a:t>Performance Metrics</a:t>
            </a:r>
            <a:endParaRPr sz="4000">
              <a:solidFill>
                <a:srgbClr val="4A86E8"/>
              </a:solidFill>
            </a:endParaRPr>
          </a:p>
        </p:txBody>
      </p:sp>
      <p:sp>
        <p:nvSpPr>
          <p:cNvPr id="460" name="Google Shape;460;p43"/>
          <p:cNvSpPr txBox="1"/>
          <p:nvPr>
            <p:ph idx="1" type="body"/>
          </p:nvPr>
        </p:nvSpPr>
        <p:spPr>
          <a:xfrm>
            <a:off x="364160" y="1465829"/>
            <a:ext cx="7953300" cy="1644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●"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Accuracy, precision, recall, F1, ROC-AUC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●"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Business-aligned metrics (cost savings, churn reduction)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●"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Choose metrics that reflect real-world impact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44"/>
          <p:cNvSpPr txBox="1"/>
          <p:nvPr>
            <p:ph type="title"/>
          </p:nvPr>
        </p:nvSpPr>
        <p:spPr>
          <a:xfrm>
            <a:off x="269159" y="206300"/>
            <a:ext cx="79533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>
                <a:solidFill>
                  <a:srgbClr val="4A86E8"/>
                </a:solidFill>
              </a:rPr>
              <a:t>Interpretability vs. Complexity</a:t>
            </a:r>
            <a:endParaRPr sz="4000">
              <a:solidFill>
                <a:srgbClr val="4A86E8"/>
              </a:solidFill>
            </a:endParaRPr>
          </a:p>
        </p:txBody>
      </p:sp>
      <p:sp>
        <p:nvSpPr>
          <p:cNvPr id="466" name="Google Shape;466;p44"/>
          <p:cNvSpPr txBox="1"/>
          <p:nvPr>
            <p:ph idx="1" type="body"/>
          </p:nvPr>
        </p:nvSpPr>
        <p:spPr>
          <a:xfrm>
            <a:off x="364160" y="1465829"/>
            <a:ext cx="7953300" cy="20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●"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Simple models = transparency (linear/logistic regression)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●"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Complex models = higher accuracy, lower explainability (deep learning)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●"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Trade-off depends on regulatory &amp; business needs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45"/>
          <p:cNvSpPr txBox="1"/>
          <p:nvPr>
            <p:ph type="title"/>
          </p:nvPr>
        </p:nvSpPr>
        <p:spPr>
          <a:xfrm>
            <a:off x="269159" y="206300"/>
            <a:ext cx="79533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>
                <a:solidFill>
                  <a:srgbClr val="4A86E8"/>
                </a:solidFill>
              </a:rPr>
              <a:t>Computational Constraints</a:t>
            </a:r>
            <a:endParaRPr sz="4000">
              <a:solidFill>
                <a:srgbClr val="4A86E8"/>
              </a:solidFill>
            </a:endParaRPr>
          </a:p>
        </p:txBody>
      </p:sp>
      <p:sp>
        <p:nvSpPr>
          <p:cNvPr id="472" name="Google Shape;472;p45"/>
          <p:cNvSpPr txBox="1"/>
          <p:nvPr>
            <p:ph idx="1" type="body"/>
          </p:nvPr>
        </p:nvSpPr>
        <p:spPr>
          <a:xfrm>
            <a:off x="364160" y="1465829"/>
            <a:ext cx="7953300" cy="12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●"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Training time &amp; inference latency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●"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Hardware requirements (CPU/GPU/TPU)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●"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Cost vs. scalability considerations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6"/>
          <p:cNvSpPr txBox="1"/>
          <p:nvPr>
            <p:ph type="title"/>
          </p:nvPr>
        </p:nvSpPr>
        <p:spPr>
          <a:xfrm>
            <a:off x="269159" y="206300"/>
            <a:ext cx="79533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>
                <a:solidFill>
                  <a:srgbClr val="4A86E8"/>
                </a:solidFill>
              </a:rPr>
              <a:t>Deployment Environment</a:t>
            </a:r>
            <a:endParaRPr sz="4000">
              <a:solidFill>
                <a:srgbClr val="4A86E8"/>
              </a:solidFill>
            </a:endParaRPr>
          </a:p>
        </p:txBody>
      </p:sp>
      <p:sp>
        <p:nvSpPr>
          <p:cNvPr id="478" name="Google Shape;478;p46"/>
          <p:cNvSpPr txBox="1"/>
          <p:nvPr>
            <p:ph idx="1" type="body"/>
          </p:nvPr>
        </p:nvSpPr>
        <p:spPr>
          <a:xfrm>
            <a:off x="364160" y="1465829"/>
            <a:ext cx="7953300" cy="12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●"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Edge vs. cloud deployment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●"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Real-time vs. batch processing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●"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Integration with existing systems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47"/>
          <p:cNvSpPr txBox="1"/>
          <p:nvPr>
            <p:ph type="title"/>
          </p:nvPr>
        </p:nvSpPr>
        <p:spPr>
          <a:xfrm>
            <a:off x="269159" y="206300"/>
            <a:ext cx="79533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>
                <a:solidFill>
                  <a:srgbClr val="4A86E8"/>
                </a:solidFill>
              </a:rPr>
              <a:t>Model Families Overview</a:t>
            </a:r>
            <a:endParaRPr sz="4000">
              <a:solidFill>
                <a:srgbClr val="4A86E8"/>
              </a:solidFill>
            </a:endParaRPr>
          </a:p>
        </p:txBody>
      </p:sp>
      <p:sp>
        <p:nvSpPr>
          <p:cNvPr id="484" name="Google Shape;484;p47"/>
          <p:cNvSpPr txBox="1"/>
          <p:nvPr>
            <p:ph idx="1" type="body"/>
          </p:nvPr>
        </p:nvSpPr>
        <p:spPr>
          <a:xfrm>
            <a:off x="364160" y="1465829"/>
            <a:ext cx="7953300" cy="24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●"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Regression: baseline, interpretable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●"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Decision Trees/Random Forests: robust, feature importance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●"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Gradient Boosting: high accuracy on tabular data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●"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Neural Networks: best for unstructured data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●"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Pre-trained Models: leverage transfer learning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48"/>
          <p:cNvSpPr txBox="1"/>
          <p:nvPr>
            <p:ph type="title"/>
          </p:nvPr>
        </p:nvSpPr>
        <p:spPr>
          <a:xfrm>
            <a:off x="269159" y="206300"/>
            <a:ext cx="79533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>
                <a:solidFill>
                  <a:srgbClr val="4A86E8"/>
                </a:solidFill>
              </a:rPr>
              <a:t>Decision Framework</a:t>
            </a:r>
            <a:endParaRPr sz="4000">
              <a:solidFill>
                <a:srgbClr val="4A86E8"/>
              </a:solidFill>
            </a:endParaRPr>
          </a:p>
        </p:txBody>
      </p:sp>
      <p:sp>
        <p:nvSpPr>
          <p:cNvPr id="490" name="Google Shape;490;p48"/>
          <p:cNvSpPr txBox="1"/>
          <p:nvPr>
            <p:ph idx="1" type="body"/>
          </p:nvPr>
        </p:nvSpPr>
        <p:spPr>
          <a:xfrm>
            <a:off x="364160" y="1465829"/>
            <a:ext cx="7953300" cy="20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●"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Start simple and benchmark baseline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●"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Iterate to add complexity only if needed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●"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Evaluate trade-offs: accuracy vs. interpretability, latency vs. throughput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●"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Fine-tune pre-trained models when possible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49"/>
          <p:cNvSpPr txBox="1"/>
          <p:nvPr>
            <p:ph type="title"/>
          </p:nvPr>
        </p:nvSpPr>
        <p:spPr>
          <a:xfrm>
            <a:off x="269159" y="206300"/>
            <a:ext cx="79533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>
                <a:solidFill>
                  <a:srgbClr val="4A86E8"/>
                </a:solidFill>
              </a:rPr>
              <a:t>Conclusion</a:t>
            </a:r>
            <a:endParaRPr sz="4000">
              <a:solidFill>
                <a:srgbClr val="4A86E8"/>
              </a:solidFill>
            </a:endParaRPr>
          </a:p>
        </p:txBody>
      </p:sp>
      <p:sp>
        <p:nvSpPr>
          <p:cNvPr id="496" name="Google Shape;496;p49"/>
          <p:cNvSpPr txBox="1"/>
          <p:nvPr>
            <p:ph idx="1" type="body"/>
          </p:nvPr>
        </p:nvSpPr>
        <p:spPr>
          <a:xfrm>
            <a:off x="364160" y="1465829"/>
            <a:ext cx="7953300" cy="1644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Choosing a model = finding the right fit, not the fanciest algorithm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Decision-making mindset &gt; checklist of algorithms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Align model choice with data, constraints, and goals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50"/>
          <p:cNvSpPr txBox="1"/>
          <p:nvPr>
            <p:ph type="title"/>
          </p:nvPr>
        </p:nvSpPr>
        <p:spPr>
          <a:xfrm>
            <a:off x="925550" y="981300"/>
            <a:ext cx="7437900" cy="38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8735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GB" sz="2500">
                <a:latin typeface="Calibri"/>
                <a:ea typeface="Calibri"/>
                <a:cs typeface="Calibri"/>
                <a:sym typeface="Calibri"/>
              </a:rPr>
              <a:t>Implementing model with best practice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51"/>
          <p:cNvSpPr txBox="1"/>
          <p:nvPr>
            <p:ph type="title"/>
          </p:nvPr>
        </p:nvSpPr>
        <p:spPr>
          <a:xfrm>
            <a:off x="269159" y="206300"/>
            <a:ext cx="7953300" cy="1231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>
                <a:solidFill>
                  <a:srgbClr val="4A86E8"/>
                </a:solidFill>
              </a:rPr>
              <a:t>Problem Framing &amp; Business Alignment</a:t>
            </a:r>
            <a:endParaRPr sz="4000">
              <a:solidFill>
                <a:srgbClr val="4A86E8"/>
              </a:solidFill>
            </a:endParaRPr>
          </a:p>
        </p:txBody>
      </p:sp>
      <p:sp>
        <p:nvSpPr>
          <p:cNvPr id="507" name="Google Shape;507;p51"/>
          <p:cNvSpPr txBox="1"/>
          <p:nvPr>
            <p:ph idx="1" type="body"/>
          </p:nvPr>
        </p:nvSpPr>
        <p:spPr>
          <a:xfrm>
            <a:off x="373010" y="1536529"/>
            <a:ext cx="7953300" cy="3921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Translate KPIs into quantifiable ML objectives (precision@k, AUC, RMSE).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Decision-centric modeling: design models for how predictions will be consumed.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Apply cost-sensitive learning when misclassification costs differ.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Always benchmark against baseline models (logistic regression, linear regression).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52"/>
          <p:cNvSpPr txBox="1"/>
          <p:nvPr>
            <p:ph type="title"/>
          </p:nvPr>
        </p:nvSpPr>
        <p:spPr>
          <a:xfrm>
            <a:off x="269150" y="64900"/>
            <a:ext cx="7953300" cy="1231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>
                <a:solidFill>
                  <a:srgbClr val="4A86E8"/>
                </a:solidFill>
              </a:rPr>
              <a:t>Data Engineering &amp; Feature Management</a:t>
            </a:r>
            <a:endParaRPr sz="4000">
              <a:solidFill>
                <a:srgbClr val="4A86E8"/>
              </a:solidFill>
            </a:endParaRPr>
          </a:p>
        </p:txBody>
      </p:sp>
      <p:sp>
        <p:nvSpPr>
          <p:cNvPr id="513" name="Google Shape;513;p52"/>
          <p:cNvSpPr txBox="1"/>
          <p:nvPr>
            <p:ph idx="1" type="body"/>
          </p:nvPr>
        </p:nvSpPr>
        <p:spPr>
          <a:xfrm>
            <a:off x="373000" y="1386301"/>
            <a:ext cx="7953300" cy="4346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Data Versioning: DVC, Delta Lake for reproducibility.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Feature Stores: Feast, Tecton to avoid training-serving skew.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Bias &amp; Fairness Audits: statistical parity, disparate impact ratio, SHAP fairness checks.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Synthetic Data: GANs or simulation for rare-event augmentation.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Best Practice: Document feature lineage and transformations.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53"/>
          <p:cNvSpPr txBox="1"/>
          <p:nvPr>
            <p:ph type="title"/>
          </p:nvPr>
        </p:nvSpPr>
        <p:spPr>
          <a:xfrm>
            <a:off x="269150" y="64900"/>
            <a:ext cx="7953300" cy="1231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>
                <a:solidFill>
                  <a:srgbClr val="4A86E8"/>
                </a:solidFill>
              </a:rPr>
              <a:t>Model Development &amp; Hyperparameter Tuning</a:t>
            </a:r>
            <a:endParaRPr sz="4000">
              <a:solidFill>
                <a:srgbClr val="4A86E8"/>
              </a:solidFill>
            </a:endParaRPr>
          </a:p>
        </p:txBody>
      </p:sp>
      <p:sp>
        <p:nvSpPr>
          <p:cNvPr id="519" name="Google Shape;519;p53"/>
          <p:cNvSpPr txBox="1"/>
          <p:nvPr>
            <p:ph idx="1" type="body"/>
          </p:nvPr>
        </p:nvSpPr>
        <p:spPr>
          <a:xfrm>
            <a:off x="373000" y="1386301"/>
            <a:ext cx="7953300" cy="33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400">
                <a:latin typeface="Arial"/>
                <a:ea typeface="Arial"/>
                <a:cs typeface="Arial"/>
                <a:sym typeface="Arial"/>
              </a:rPr>
              <a:t>Learning Rate (η)</a:t>
            </a:r>
            <a:r>
              <a:rPr lang="en-GB" sz="2400">
                <a:latin typeface="Arial"/>
                <a:ea typeface="Arial"/>
                <a:cs typeface="Arial"/>
                <a:sym typeface="Arial"/>
              </a:rPr>
              <a:t>: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Too high → divergence; too low → slow convergence.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Best practice: use </a:t>
            </a:r>
            <a:r>
              <a:rPr b="1" lang="en-GB" sz="2400">
                <a:latin typeface="Arial"/>
                <a:ea typeface="Arial"/>
                <a:cs typeface="Arial"/>
                <a:sym typeface="Arial"/>
              </a:rPr>
              <a:t>schedules</a:t>
            </a:r>
            <a:r>
              <a:rPr lang="en-GB" sz="2400">
                <a:latin typeface="Arial"/>
                <a:ea typeface="Arial"/>
                <a:cs typeface="Arial"/>
                <a:sym typeface="Arial"/>
              </a:rPr>
              <a:t> (cosine annealing, warm restarts).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400">
                <a:latin typeface="Arial"/>
                <a:ea typeface="Arial"/>
                <a:cs typeface="Arial"/>
                <a:sym typeface="Arial"/>
              </a:rPr>
              <a:t>Batch Size</a:t>
            </a:r>
            <a:r>
              <a:rPr lang="en-GB" sz="2400">
                <a:latin typeface="Arial"/>
                <a:ea typeface="Arial"/>
                <a:cs typeface="Arial"/>
                <a:sym typeface="Arial"/>
              </a:rPr>
              <a:t>: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Small → better generalization, noisy gradients.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Large → faster training, risk of poor minima.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54"/>
          <p:cNvSpPr txBox="1"/>
          <p:nvPr>
            <p:ph idx="1" type="body"/>
          </p:nvPr>
        </p:nvSpPr>
        <p:spPr>
          <a:xfrm>
            <a:off x="284625" y="228576"/>
            <a:ext cx="7953300" cy="3534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latin typeface="Arial"/>
                <a:ea typeface="Arial"/>
                <a:cs typeface="Arial"/>
                <a:sym typeface="Arial"/>
              </a:rPr>
              <a:t>Regularization</a:t>
            </a:r>
            <a:r>
              <a:rPr lang="en-GB" sz="2400">
                <a:latin typeface="Arial"/>
                <a:ea typeface="Arial"/>
                <a:cs typeface="Arial"/>
                <a:sym typeface="Arial"/>
              </a:rPr>
              <a:t>: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L1 → sparsity; L2 → stability.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Dropout (0.2–0.5 typical).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2400">
                <a:latin typeface="Arial"/>
                <a:ea typeface="Arial"/>
                <a:cs typeface="Arial"/>
                <a:sym typeface="Arial"/>
              </a:rPr>
              <a:t>Tree Models</a:t>
            </a:r>
            <a:r>
              <a:rPr lang="en-GB" sz="2400">
                <a:latin typeface="Arial"/>
                <a:ea typeface="Arial"/>
                <a:cs typeface="Arial"/>
                <a:sym typeface="Arial"/>
              </a:rPr>
              <a:t>: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Max depth controls overfitting.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Min samples per leaf ensures generalization.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55"/>
          <p:cNvSpPr txBox="1"/>
          <p:nvPr>
            <p:ph idx="1" type="body"/>
          </p:nvPr>
        </p:nvSpPr>
        <p:spPr>
          <a:xfrm>
            <a:off x="284625" y="228576"/>
            <a:ext cx="7953300" cy="3958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400">
                <a:latin typeface="Arial"/>
                <a:ea typeface="Arial"/>
                <a:cs typeface="Arial"/>
                <a:sym typeface="Arial"/>
              </a:rPr>
              <a:t>Neural Nets</a:t>
            </a:r>
            <a:r>
              <a:rPr lang="en-GB" sz="2400">
                <a:latin typeface="Arial"/>
                <a:ea typeface="Arial"/>
                <a:cs typeface="Arial"/>
                <a:sym typeface="Arial"/>
              </a:rPr>
              <a:t>: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Start small, scale up.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Use ReLU for hidden layers, softmax/sigmoid for output.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400">
                <a:latin typeface="Arial"/>
                <a:ea typeface="Arial"/>
                <a:cs typeface="Arial"/>
                <a:sym typeface="Arial"/>
              </a:rPr>
              <a:t>Optimization</a:t>
            </a:r>
            <a:r>
              <a:rPr lang="en-GB" sz="2400">
                <a:latin typeface="Arial"/>
                <a:ea typeface="Arial"/>
                <a:cs typeface="Arial"/>
                <a:sym typeface="Arial"/>
              </a:rPr>
              <a:t>: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Grid search, random search, Bayesian optimization.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Track experiments with MLflow, Weights &amp; Biases.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2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56"/>
          <p:cNvSpPr txBox="1"/>
          <p:nvPr>
            <p:ph type="title"/>
          </p:nvPr>
        </p:nvSpPr>
        <p:spPr>
          <a:xfrm>
            <a:off x="269150" y="64900"/>
            <a:ext cx="79533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>
                <a:solidFill>
                  <a:srgbClr val="4A86E8"/>
                </a:solidFill>
              </a:rPr>
              <a:t>Validation &amp; Threshold Setting</a:t>
            </a:r>
            <a:endParaRPr sz="4000">
              <a:solidFill>
                <a:srgbClr val="4A86E8"/>
              </a:solidFill>
            </a:endParaRPr>
          </a:p>
        </p:txBody>
      </p:sp>
      <p:sp>
        <p:nvSpPr>
          <p:cNvPr id="535" name="Google Shape;535;p56"/>
          <p:cNvSpPr txBox="1"/>
          <p:nvPr>
            <p:ph idx="1" type="body"/>
          </p:nvPr>
        </p:nvSpPr>
        <p:spPr>
          <a:xfrm>
            <a:off x="373000" y="970926"/>
            <a:ext cx="7953300" cy="38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latin typeface="Arial"/>
                <a:ea typeface="Arial"/>
                <a:cs typeface="Arial"/>
                <a:sym typeface="Arial"/>
              </a:rPr>
              <a:t>Classification Thresholds</a:t>
            </a:r>
            <a:r>
              <a:rPr lang="en-GB" sz="2400">
                <a:latin typeface="Arial"/>
                <a:ea typeface="Arial"/>
                <a:cs typeface="Arial"/>
                <a:sym typeface="Arial"/>
              </a:rPr>
              <a:t>: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Default = 0.5, but adjust based on business cost.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Fraud detection → lower threshold for higher recall.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Use ROC/PR curves to select optimal threshold.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2400">
                <a:latin typeface="Arial"/>
                <a:ea typeface="Arial"/>
                <a:cs typeface="Arial"/>
                <a:sym typeface="Arial"/>
              </a:rPr>
              <a:t>Regression Acceptability</a:t>
            </a:r>
            <a:r>
              <a:rPr lang="en-GB" sz="2400">
                <a:latin typeface="Arial"/>
                <a:ea typeface="Arial"/>
                <a:cs typeface="Arial"/>
                <a:sym typeface="Arial"/>
              </a:rPr>
              <a:t>: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Define domain-specific error tolerance (±5% in forecasting).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Metrics: RMSE, MAE, MAPE.</a:t>
            </a:r>
            <a:endParaRPr b="1" sz="2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57"/>
          <p:cNvSpPr txBox="1"/>
          <p:nvPr>
            <p:ph idx="1" type="body"/>
          </p:nvPr>
        </p:nvSpPr>
        <p:spPr>
          <a:xfrm>
            <a:off x="373000" y="970926"/>
            <a:ext cx="7953300" cy="2530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latin typeface="Arial"/>
                <a:ea typeface="Arial"/>
                <a:cs typeface="Arial"/>
                <a:sym typeface="Arial"/>
              </a:rPr>
              <a:t>Fairness Thresholds</a:t>
            </a:r>
            <a:r>
              <a:rPr lang="en-GB" sz="2400">
                <a:latin typeface="Arial"/>
                <a:ea typeface="Arial"/>
                <a:cs typeface="Arial"/>
                <a:sym typeface="Arial"/>
              </a:rPr>
              <a:t>: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Subgroup performance deviation ≤ 5–10% from overall.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2400">
                <a:latin typeface="Arial"/>
                <a:ea typeface="Arial"/>
                <a:cs typeface="Arial"/>
                <a:sym typeface="Arial"/>
              </a:rPr>
              <a:t>Cross-Validation</a:t>
            </a:r>
            <a:r>
              <a:rPr lang="en-GB" sz="2400">
                <a:latin typeface="Arial"/>
                <a:ea typeface="Arial"/>
                <a:cs typeface="Arial"/>
                <a:sym typeface="Arial"/>
              </a:rPr>
              <a:t>: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Stratified K-fold for imbalanced data.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Rolling window CV for time-series.</a:t>
            </a:r>
            <a:endParaRPr b="1" sz="2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58"/>
          <p:cNvSpPr txBox="1"/>
          <p:nvPr>
            <p:ph type="title"/>
          </p:nvPr>
        </p:nvSpPr>
        <p:spPr>
          <a:xfrm>
            <a:off x="269150" y="64900"/>
            <a:ext cx="79533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>
                <a:solidFill>
                  <a:srgbClr val="4A86E8"/>
                </a:solidFill>
              </a:rPr>
              <a:t>Mathematical Rules &amp; Guidelines</a:t>
            </a:r>
            <a:endParaRPr sz="4000">
              <a:solidFill>
                <a:srgbClr val="4A86E8"/>
              </a:solidFill>
            </a:endParaRPr>
          </a:p>
        </p:txBody>
      </p:sp>
      <p:sp>
        <p:nvSpPr>
          <p:cNvPr id="546" name="Google Shape;546;p58"/>
          <p:cNvSpPr txBox="1"/>
          <p:nvPr>
            <p:ph idx="1" type="body"/>
          </p:nvPr>
        </p:nvSpPr>
        <p:spPr>
          <a:xfrm>
            <a:off x="373000" y="970926"/>
            <a:ext cx="7953300" cy="3958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GB" sz="2400">
                <a:latin typeface="Arial"/>
                <a:ea typeface="Arial"/>
                <a:cs typeface="Arial"/>
                <a:sym typeface="Arial"/>
              </a:rPr>
              <a:t>Bias-Variance Tradeoff</a:t>
            </a:r>
            <a:r>
              <a:rPr lang="en-GB" sz="2400">
                <a:latin typeface="Arial"/>
                <a:ea typeface="Arial"/>
                <a:cs typeface="Arial"/>
                <a:sym typeface="Arial"/>
              </a:rPr>
              <a:t>: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GB" sz="2400">
                <a:latin typeface="Arial"/>
                <a:ea typeface="Arial"/>
                <a:cs typeface="Arial"/>
                <a:sym typeface="Arial"/>
              </a:rPr>
              <a:t>Regularization Principle</a:t>
            </a:r>
            <a:r>
              <a:rPr lang="en-GB" sz="2400">
                <a:latin typeface="Arial"/>
                <a:ea typeface="Arial"/>
                <a:cs typeface="Arial"/>
                <a:sym typeface="Arial"/>
              </a:rPr>
              <a:t>: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GB" sz="2400">
                <a:latin typeface="Arial"/>
                <a:ea typeface="Arial"/>
                <a:cs typeface="Arial"/>
                <a:sym typeface="Arial"/>
              </a:rPr>
              <a:t>Early Stopping</a:t>
            </a:r>
            <a:r>
              <a:rPr lang="en-GB" sz="2400">
                <a:latin typeface="Arial"/>
                <a:ea typeface="Arial"/>
                <a:cs typeface="Arial"/>
                <a:sym typeface="Arial"/>
              </a:rPr>
              <a:t>: halt when validation loss plateaus.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GB" sz="2400">
                <a:latin typeface="Arial"/>
                <a:ea typeface="Arial"/>
                <a:cs typeface="Arial"/>
                <a:sym typeface="Arial"/>
              </a:rPr>
              <a:t>Confidence Intervals</a:t>
            </a:r>
            <a:r>
              <a:rPr lang="en-GB" sz="2400">
                <a:latin typeface="Arial"/>
                <a:ea typeface="Arial"/>
                <a:cs typeface="Arial"/>
                <a:sym typeface="Arial"/>
              </a:rPr>
              <a:t>: report uncertainty (95% CI).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GB" sz="2400">
                <a:latin typeface="Arial"/>
                <a:ea typeface="Arial"/>
                <a:cs typeface="Arial"/>
                <a:sym typeface="Arial"/>
              </a:rPr>
              <a:t>Stress Testing</a:t>
            </a:r>
            <a:r>
              <a:rPr lang="en-GB" sz="2400">
                <a:latin typeface="Arial"/>
                <a:ea typeface="Arial"/>
                <a:cs typeface="Arial"/>
                <a:sym typeface="Arial"/>
              </a:rPr>
              <a:t>: simulate distribution shifts (covariate, concept drift).</a:t>
            </a:r>
            <a:endParaRPr b="1" sz="24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7" name="Google Shape;547;p58" title="Screenshot 2025-12-17 at 10.43.25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7525" y="1446800"/>
            <a:ext cx="5334000" cy="61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8" name="Google Shape;548;p58" title="Screenshot 2025-12-17 at 10.43.36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9125" y="2509875"/>
            <a:ext cx="5334000" cy="76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59"/>
          <p:cNvSpPr txBox="1"/>
          <p:nvPr>
            <p:ph type="title"/>
          </p:nvPr>
        </p:nvSpPr>
        <p:spPr>
          <a:xfrm>
            <a:off x="269150" y="64900"/>
            <a:ext cx="79533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>
                <a:solidFill>
                  <a:srgbClr val="4A86E8"/>
                </a:solidFill>
              </a:rPr>
              <a:t>Deployment &amp; MLOps</a:t>
            </a:r>
            <a:endParaRPr sz="4000">
              <a:solidFill>
                <a:srgbClr val="4A86E8"/>
              </a:solidFill>
            </a:endParaRPr>
          </a:p>
        </p:txBody>
      </p:sp>
      <p:sp>
        <p:nvSpPr>
          <p:cNvPr id="554" name="Google Shape;554;p59"/>
          <p:cNvSpPr txBox="1"/>
          <p:nvPr>
            <p:ph idx="1" type="body"/>
          </p:nvPr>
        </p:nvSpPr>
        <p:spPr>
          <a:xfrm>
            <a:off x="373000" y="970926"/>
            <a:ext cx="7953300" cy="3768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GB" sz="2400">
                <a:latin typeface="Arial"/>
                <a:ea typeface="Arial"/>
                <a:cs typeface="Arial"/>
                <a:sym typeface="Arial"/>
              </a:rPr>
              <a:t>CI/CD for ML</a:t>
            </a:r>
            <a:r>
              <a:rPr lang="en-GB" sz="2400">
                <a:latin typeface="Arial"/>
                <a:ea typeface="Arial"/>
                <a:cs typeface="Arial"/>
                <a:sym typeface="Arial"/>
              </a:rPr>
              <a:t>: automate pipelines with Kubeflow, Jenkins.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GB" sz="2400">
                <a:latin typeface="Arial"/>
                <a:ea typeface="Arial"/>
                <a:cs typeface="Arial"/>
                <a:sym typeface="Arial"/>
              </a:rPr>
              <a:t>Containerization</a:t>
            </a:r>
            <a:r>
              <a:rPr lang="en-GB" sz="2400">
                <a:latin typeface="Arial"/>
                <a:ea typeface="Arial"/>
                <a:cs typeface="Arial"/>
                <a:sym typeface="Arial"/>
              </a:rPr>
              <a:t>: Docker + Kubernetes.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GB" sz="2400">
                <a:latin typeface="Arial"/>
                <a:ea typeface="Arial"/>
                <a:cs typeface="Arial"/>
                <a:sym typeface="Arial"/>
              </a:rPr>
              <a:t>Model Serving</a:t>
            </a:r>
            <a:r>
              <a:rPr lang="en-GB" sz="2400">
                <a:latin typeface="Arial"/>
                <a:ea typeface="Arial"/>
                <a:cs typeface="Arial"/>
                <a:sym typeface="Arial"/>
              </a:rPr>
              <a:t>: REST APIs, gRPC, serverless functions.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GB" sz="2400">
                <a:latin typeface="Arial"/>
                <a:ea typeface="Arial"/>
                <a:cs typeface="Arial"/>
                <a:sym typeface="Arial"/>
              </a:rPr>
              <a:t>Monitoring</a:t>
            </a:r>
            <a:r>
              <a:rPr lang="en-GB" sz="2400">
                <a:latin typeface="Arial"/>
                <a:ea typeface="Arial"/>
                <a:cs typeface="Arial"/>
                <a:sym typeface="Arial"/>
              </a:rPr>
              <a:t>: latency, throughput, drift detection (EvidentlyAI, Fiddler).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GB" sz="2400">
                <a:latin typeface="Arial"/>
                <a:ea typeface="Arial"/>
                <a:cs typeface="Arial"/>
                <a:sym typeface="Arial"/>
              </a:rPr>
              <a:t>Retraining Triggers</a:t>
            </a:r>
            <a:r>
              <a:rPr lang="en-GB" sz="2400">
                <a:latin typeface="Arial"/>
                <a:ea typeface="Arial"/>
                <a:cs typeface="Arial"/>
                <a:sym typeface="Arial"/>
              </a:rPr>
              <a:t>: automate based on drift thresholds or performance decay.</a:t>
            </a:r>
            <a:endParaRPr b="1" sz="2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60"/>
          <p:cNvSpPr txBox="1"/>
          <p:nvPr>
            <p:ph type="title"/>
          </p:nvPr>
        </p:nvSpPr>
        <p:spPr>
          <a:xfrm>
            <a:off x="269150" y="64900"/>
            <a:ext cx="79533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>
                <a:solidFill>
                  <a:srgbClr val="4A86E8"/>
                </a:solidFill>
              </a:rPr>
              <a:t>Scaling &amp; Performance</a:t>
            </a:r>
            <a:endParaRPr sz="4000">
              <a:solidFill>
                <a:srgbClr val="4A86E8"/>
              </a:solidFill>
            </a:endParaRPr>
          </a:p>
        </p:txBody>
      </p:sp>
      <p:sp>
        <p:nvSpPr>
          <p:cNvPr id="560" name="Google Shape;560;p60"/>
          <p:cNvSpPr txBox="1"/>
          <p:nvPr>
            <p:ph idx="1" type="body"/>
          </p:nvPr>
        </p:nvSpPr>
        <p:spPr>
          <a:xfrm>
            <a:off x="373000" y="970926"/>
            <a:ext cx="7953300" cy="24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GB" sz="2400">
                <a:latin typeface="Arial"/>
                <a:ea typeface="Arial"/>
                <a:cs typeface="Arial"/>
                <a:sym typeface="Arial"/>
              </a:rPr>
              <a:t>Distributed Training</a:t>
            </a:r>
            <a:r>
              <a:rPr lang="en-GB" sz="2400">
                <a:latin typeface="Arial"/>
                <a:ea typeface="Arial"/>
                <a:cs typeface="Arial"/>
                <a:sym typeface="Arial"/>
              </a:rPr>
              <a:t>: Horovod, PyTorch DDP.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GB" sz="2400">
                <a:latin typeface="Arial"/>
                <a:ea typeface="Arial"/>
                <a:cs typeface="Arial"/>
                <a:sym typeface="Arial"/>
              </a:rPr>
              <a:t>Model Compression</a:t>
            </a:r>
            <a:r>
              <a:rPr lang="en-GB" sz="2400">
                <a:latin typeface="Arial"/>
                <a:ea typeface="Arial"/>
                <a:cs typeface="Arial"/>
                <a:sym typeface="Arial"/>
              </a:rPr>
              <a:t>: quantization, pruning, distillation.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GB" sz="2400">
                <a:latin typeface="Arial"/>
                <a:ea typeface="Arial"/>
                <a:cs typeface="Arial"/>
                <a:sym typeface="Arial"/>
              </a:rPr>
              <a:t>Caching &amp; B</a:t>
            </a:r>
            <a:r>
              <a:rPr b="1" lang="en-GB" sz="2400"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1" lang="en-GB" sz="2400">
                <a:latin typeface="Arial"/>
                <a:ea typeface="Arial"/>
                <a:cs typeface="Arial"/>
                <a:sym typeface="Arial"/>
              </a:rPr>
              <a:t>tching</a:t>
            </a:r>
            <a:r>
              <a:rPr lang="en-GB" sz="2400">
                <a:latin typeface="Arial"/>
                <a:ea typeface="Arial"/>
                <a:cs typeface="Arial"/>
                <a:sym typeface="Arial"/>
              </a:rPr>
              <a:t>: optimize inference throughput.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GB" sz="2400">
                <a:latin typeface="Arial"/>
                <a:ea typeface="Arial"/>
                <a:cs typeface="Arial"/>
                <a:sym typeface="Arial"/>
              </a:rPr>
              <a:t>Hardware Utilization</a:t>
            </a:r>
            <a:r>
              <a:rPr lang="en-GB" sz="2400">
                <a:latin typeface="Arial"/>
                <a:ea typeface="Arial"/>
                <a:cs typeface="Arial"/>
                <a:sym typeface="Arial"/>
              </a:rPr>
              <a:t>: GPUs vs TPUs vs CPUs trade-offs.</a:t>
            </a:r>
            <a:endParaRPr b="1" sz="2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61"/>
          <p:cNvSpPr txBox="1"/>
          <p:nvPr>
            <p:ph type="title"/>
          </p:nvPr>
        </p:nvSpPr>
        <p:spPr>
          <a:xfrm>
            <a:off x="269150" y="64900"/>
            <a:ext cx="79533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>
                <a:solidFill>
                  <a:srgbClr val="4A86E8"/>
                </a:solidFill>
              </a:rPr>
              <a:t>Key Takeaways</a:t>
            </a:r>
            <a:endParaRPr sz="4000">
              <a:solidFill>
                <a:srgbClr val="4A86E8"/>
              </a:solidFill>
            </a:endParaRPr>
          </a:p>
        </p:txBody>
      </p:sp>
      <p:sp>
        <p:nvSpPr>
          <p:cNvPr id="566" name="Google Shape;566;p61"/>
          <p:cNvSpPr txBox="1"/>
          <p:nvPr>
            <p:ph idx="1" type="body"/>
          </p:nvPr>
        </p:nvSpPr>
        <p:spPr>
          <a:xfrm>
            <a:off x="373000" y="970926"/>
            <a:ext cx="7953300" cy="3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Treat ML as a system, not just a model.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Hyperparameters must be tuned systematically.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Thresholds should align with business costs and risk tolerance.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Mathematical rules (bias-variance, regularization, CV) guide robust design.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Balance accuracy, interpretability, and fairness.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Continuous iteration = production-grade ML.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62"/>
          <p:cNvSpPr txBox="1"/>
          <p:nvPr>
            <p:ph type="title"/>
          </p:nvPr>
        </p:nvSpPr>
        <p:spPr>
          <a:xfrm>
            <a:off x="925550" y="981300"/>
            <a:ext cx="7437900" cy="38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8735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GB" sz="2500">
                <a:latin typeface="Calibri"/>
                <a:ea typeface="Calibri"/>
                <a:cs typeface="Calibri"/>
                <a:sym typeface="Calibri"/>
              </a:rPr>
              <a:t>Overcoming Training issues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63"/>
          <p:cNvSpPr txBox="1"/>
          <p:nvPr>
            <p:ph type="title"/>
          </p:nvPr>
        </p:nvSpPr>
        <p:spPr>
          <a:xfrm>
            <a:off x="269150" y="64900"/>
            <a:ext cx="79533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>
                <a:solidFill>
                  <a:srgbClr val="4A86E8"/>
                </a:solidFill>
              </a:rPr>
              <a:t>How to read Confusion Matrix</a:t>
            </a:r>
            <a:endParaRPr sz="4000">
              <a:solidFill>
                <a:srgbClr val="4A86E8"/>
              </a:solidFill>
            </a:endParaRPr>
          </a:p>
        </p:txBody>
      </p:sp>
      <p:pic>
        <p:nvPicPr>
          <p:cNvPr id="577" name="Google Shape;577;p63" title="Screenshot 2025-12-19 at 12.02.2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32900"/>
            <a:ext cx="8839199" cy="1619302"/>
          </a:xfrm>
          <a:prstGeom prst="rect">
            <a:avLst/>
          </a:prstGeom>
          <a:noFill/>
          <a:ln>
            <a:noFill/>
          </a:ln>
        </p:spPr>
      </p:pic>
      <p:pic>
        <p:nvPicPr>
          <p:cNvPr id="578" name="Google Shape;578;p63" title="Screenshot 2025-12-19 at 12.02.38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604602"/>
            <a:ext cx="8839199" cy="16193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64"/>
          <p:cNvSpPr txBox="1"/>
          <p:nvPr>
            <p:ph type="title"/>
          </p:nvPr>
        </p:nvSpPr>
        <p:spPr>
          <a:xfrm>
            <a:off x="269150" y="64900"/>
            <a:ext cx="79533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>
                <a:solidFill>
                  <a:srgbClr val="4A86E8"/>
                </a:solidFill>
              </a:rPr>
              <a:t>What can be derived</a:t>
            </a:r>
            <a:endParaRPr sz="4000">
              <a:solidFill>
                <a:srgbClr val="4A86E8"/>
              </a:solidFill>
            </a:endParaRPr>
          </a:p>
        </p:txBody>
      </p:sp>
      <p:sp>
        <p:nvSpPr>
          <p:cNvPr id="584" name="Google Shape;584;p64"/>
          <p:cNvSpPr txBox="1"/>
          <p:nvPr>
            <p:ph idx="1" type="body"/>
          </p:nvPr>
        </p:nvSpPr>
        <p:spPr>
          <a:xfrm>
            <a:off x="373000" y="970926"/>
            <a:ext cx="7953300" cy="24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GB" sz="2400">
                <a:latin typeface="Arial"/>
                <a:ea typeface="Arial"/>
                <a:cs typeface="Arial"/>
                <a:sym typeface="Arial"/>
              </a:rPr>
              <a:t>Accuracy:</a:t>
            </a:r>
            <a:r>
              <a:rPr lang="en-GB" sz="2400">
                <a:latin typeface="Arial"/>
                <a:ea typeface="Arial"/>
                <a:cs typeface="Arial"/>
                <a:sym typeface="Arial"/>
              </a:rPr>
              <a:t> (TP+TN)/(Total)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GB" sz="2400">
                <a:latin typeface="Arial"/>
                <a:ea typeface="Arial"/>
                <a:cs typeface="Arial"/>
                <a:sym typeface="Arial"/>
              </a:rPr>
              <a:t>Precision:</a:t>
            </a:r>
            <a:r>
              <a:rPr lang="en-GB" sz="2400">
                <a:latin typeface="Arial"/>
                <a:ea typeface="Arial"/>
                <a:cs typeface="Arial"/>
                <a:sym typeface="Arial"/>
              </a:rPr>
              <a:t> TP/(TP+FP) → How many predicted frauds were actually fraud.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GB" sz="2400">
                <a:latin typeface="Arial"/>
                <a:ea typeface="Arial"/>
                <a:cs typeface="Arial"/>
                <a:sym typeface="Arial"/>
              </a:rPr>
              <a:t>Recall (Sensitivity):</a:t>
            </a:r>
            <a:r>
              <a:rPr lang="en-GB" sz="2400">
                <a:latin typeface="Arial"/>
                <a:ea typeface="Arial"/>
                <a:cs typeface="Arial"/>
                <a:sym typeface="Arial"/>
              </a:rPr>
              <a:t> TP/(TP+FN) → How many actual frauds were caught.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GB" sz="2400">
                <a:latin typeface="Arial"/>
                <a:ea typeface="Arial"/>
                <a:cs typeface="Arial"/>
                <a:sym typeface="Arial"/>
              </a:rPr>
              <a:t>F1 Score:</a:t>
            </a:r>
            <a:r>
              <a:rPr lang="en-GB" sz="2400">
                <a:latin typeface="Arial"/>
                <a:ea typeface="Arial"/>
                <a:cs typeface="Arial"/>
                <a:sym typeface="Arial"/>
              </a:rPr>
              <a:t> Harmonic mean of precision &amp; recall.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65"/>
          <p:cNvSpPr txBox="1"/>
          <p:nvPr>
            <p:ph type="title"/>
          </p:nvPr>
        </p:nvSpPr>
        <p:spPr>
          <a:xfrm>
            <a:off x="269150" y="64900"/>
            <a:ext cx="79533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>
                <a:solidFill>
                  <a:srgbClr val="4A86E8"/>
                </a:solidFill>
              </a:rPr>
              <a:t>Key Takeaway</a:t>
            </a:r>
            <a:endParaRPr sz="4000">
              <a:solidFill>
                <a:srgbClr val="4A86E8"/>
              </a:solidFill>
            </a:endParaRPr>
          </a:p>
        </p:txBody>
      </p:sp>
      <p:sp>
        <p:nvSpPr>
          <p:cNvPr id="590" name="Google Shape;590;p65"/>
          <p:cNvSpPr txBox="1"/>
          <p:nvPr>
            <p:ph idx="1" type="body"/>
          </p:nvPr>
        </p:nvSpPr>
        <p:spPr>
          <a:xfrm>
            <a:off x="373000" y="970926"/>
            <a:ext cx="7953300" cy="20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GB" sz="2400">
                <a:latin typeface="Arial"/>
                <a:ea typeface="Arial"/>
                <a:cs typeface="Arial"/>
                <a:sym typeface="Arial"/>
              </a:rPr>
              <a:t>Diagonal cells (TP, TN)</a:t>
            </a:r>
            <a:r>
              <a:rPr lang="en-GB" sz="2400">
                <a:latin typeface="Arial"/>
                <a:ea typeface="Arial"/>
                <a:cs typeface="Arial"/>
                <a:sym typeface="Arial"/>
              </a:rPr>
              <a:t> → Correct predictions.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GB" sz="2400">
                <a:latin typeface="Arial"/>
                <a:ea typeface="Arial"/>
                <a:cs typeface="Arial"/>
                <a:sym typeface="Arial"/>
              </a:rPr>
              <a:t>Off-diagonal cells (FP, FN)</a:t>
            </a:r>
            <a:r>
              <a:rPr lang="en-GB" sz="2400">
                <a:latin typeface="Arial"/>
                <a:ea typeface="Arial"/>
                <a:cs typeface="Arial"/>
                <a:sym typeface="Arial"/>
              </a:rPr>
              <a:t> → Mistakes.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The balance between FP and FN matters depending on the application (e.g., fraud detection cares more about reducing FN).</a:t>
            </a:r>
            <a:endParaRPr b="1" sz="2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66"/>
          <p:cNvSpPr txBox="1"/>
          <p:nvPr>
            <p:ph type="title"/>
          </p:nvPr>
        </p:nvSpPr>
        <p:spPr>
          <a:xfrm>
            <a:off x="925550" y="981300"/>
            <a:ext cx="7437900" cy="769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8735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GB" sz="2500">
                <a:latin typeface="Calibri"/>
                <a:ea typeface="Calibri"/>
                <a:cs typeface="Calibri"/>
                <a:sym typeface="Calibri"/>
              </a:rPr>
              <a:t>Adding weak learning or strong learners selection techniques (Boosting and Bagging)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67"/>
          <p:cNvSpPr txBox="1"/>
          <p:nvPr>
            <p:ph idx="1" type="body"/>
          </p:nvPr>
        </p:nvSpPr>
        <p:spPr>
          <a:xfrm>
            <a:off x="364150" y="1960726"/>
            <a:ext cx="7953300" cy="79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-GB" sz="2400">
                <a:latin typeface="Arial"/>
                <a:ea typeface="Arial"/>
                <a:cs typeface="Arial"/>
                <a:sym typeface="Arial"/>
              </a:rPr>
              <a:t>ensemble learning</a:t>
            </a:r>
            <a:r>
              <a:rPr lang="en-GB" sz="2400">
                <a:latin typeface="Arial"/>
                <a:ea typeface="Arial"/>
                <a:cs typeface="Arial"/>
                <a:sym typeface="Arial"/>
              </a:rPr>
              <a:t>: combining multiple models to improve performance.</a:t>
            </a:r>
            <a:endParaRPr b="1" sz="2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5" name="Google Shape;605;p68" title="Screenshot 2025-12-22 at 10.58.52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435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69"/>
          <p:cNvSpPr txBox="1"/>
          <p:nvPr>
            <p:ph type="title"/>
          </p:nvPr>
        </p:nvSpPr>
        <p:spPr>
          <a:xfrm>
            <a:off x="269150" y="64900"/>
            <a:ext cx="79533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>
                <a:solidFill>
                  <a:srgbClr val="4A86E8"/>
                </a:solidFill>
              </a:rPr>
              <a:t>Bagging</a:t>
            </a:r>
            <a:endParaRPr sz="4000">
              <a:solidFill>
                <a:srgbClr val="4A86E8"/>
              </a:solidFill>
            </a:endParaRPr>
          </a:p>
        </p:txBody>
      </p:sp>
      <p:sp>
        <p:nvSpPr>
          <p:cNvPr id="611" name="Google Shape;611;p69"/>
          <p:cNvSpPr txBox="1"/>
          <p:nvPr>
            <p:ph idx="1" type="body"/>
          </p:nvPr>
        </p:nvSpPr>
        <p:spPr>
          <a:xfrm>
            <a:off x="373000" y="970926"/>
            <a:ext cx="7953300" cy="38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latin typeface="Arial"/>
                <a:ea typeface="Arial"/>
                <a:cs typeface="Arial"/>
                <a:sym typeface="Arial"/>
              </a:rPr>
              <a:t>Concept:</a:t>
            </a:r>
            <a:r>
              <a:rPr lang="en-GB" sz="2400">
                <a:latin typeface="Arial"/>
                <a:ea typeface="Arial"/>
                <a:cs typeface="Arial"/>
                <a:sym typeface="Arial"/>
              </a:rPr>
              <a:t> Bootstrap Aggregating (Bagging) trains multiple models in parallel on random subsets of data.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2400">
                <a:latin typeface="Arial"/>
                <a:ea typeface="Arial"/>
                <a:cs typeface="Arial"/>
                <a:sym typeface="Arial"/>
              </a:rPr>
              <a:t>Process:</a:t>
            </a:r>
            <a:endParaRPr b="1"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Random sampling with replacement.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Train independent models (often decision trees).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Aggregate predictions (majority vote for classification, average for regression)</a:t>
            </a:r>
            <a:endParaRPr b="1" sz="2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70"/>
          <p:cNvSpPr txBox="1"/>
          <p:nvPr>
            <p:ph idx="1" type="body"/>
          </p:nvPr>
        </p:nvSpPr>
        <p:spPr>
          <a:xfrm>
            <a:off x="373000" y="970926"/>
            <a:ext cx="7953300" cy="2376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latin typeface="Arial"/>
                <a:ea typeface="Arial"/>
                <a:cs typeface="Arial"/>
                <a:sym typeface="Arial"/>
              </a:rPr>
              <a:t>Strengths:</a:t>
            </a:r>
            <a:endParaRPr b="1"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Reduces variance.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Prevents overfitting.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 sz="2400">
                <a:latin typeface="Arial"/>
                <a:ea typeface="Arial"/>
                <a:cs typeface="Arial"/>
                <a:sym typeface="Arial"/>
              </a:rPr>
              <a:t>Example:</a:t>
            </a:r>
            <a:r>
              <a:rPr lang="en-GB" sz="2400">
                <a:latin typeface="Arial"/>
                <a:ea typeface="Arial"/>
                <a:cs typeface="Arial"/>
                <a:sym typeface="Arial"/>
              </a:rPr>
              <a:t> Random Forest (bagging applied to decision trees).</a:t>
            </a:r>
            <a:endParaRPr b="1" sz="2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71"/>
          <p:cNvSpPr txBox="1"/>
          <p:nvPr>
            <p:ph type="title"/>
          </p:nvPr>
        </p:nvSpPr>
        <p:spPr>
          <a:xfrm>
            <a:off x="269150" y="64900"/>
            <a:ext cx="79533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>
                <a:solidFill>
                  <a:srgbClr val="4A86E8"/>
                </a:solidFill>
              </a:rPr>
              <a:t>Bagging</a:t>
            </a:r>
            <a:endParaRPr sz="4000">
              <a:solidFill>
                <a:srgbClr val="4A86E8"/>
              </a:solidFill>
            </a:endParaRPr>
          </a:p>
        </p:txBody>
      </p:sp>
      <p:sp>
        <p:nvSpPr>
          <p:cNvPr id="622" name="Google Shape;622;p71"/>
          <p:cNvSpPr txBox="1"/>
          <p:nvPr>
            <p:ph idx="1" type="body"/>
          </p:nvPr>
        </p:nvSpPr>
        <p:spPr>
          <a:xfrm>
            <a:off x="373000" y="970926"/>
            <a:ext cx="7953300" cy="38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latin typeface="Arial"/>
                <a:ea typeface="Arial"/>
                <a:cs typeface="Arial"/>
                <a:sym typeface="Arial"/>
              </a:rPr>
              <a:t>Concept:</a:t>
            </a:r>
            <a:r>
              <a:rPr lang="en-GB" sz="2400">
                <a:latin typeface="Arial"/>
                <a:ea typeface="Arial"/>
                <a:cs typeface="Arial"/>
                <a:sym typeface="Arial"/>
              </a:rPr>
              <a:t> Sequentially trains models, each correcting errors of the previous one.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2400">
                <a:latin typeface="Arial"/>
                <a:ea typeface="Arial"/>
                <a:cs typeface="Arial"/>
                <a:sym typeface="Arial"/>
              </a:rPr>
              <a:t>Process:</a:t>
            </a:r>
            <a:endParaRPr b="1"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Start with a weak learner.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Assign higher weights to misclassified samples.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Train next learner to focus on those errors.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Combine learners with weighted voting.</a:t>
            </a:r>
            <a:endParaRPr b="1" sz="2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72"/>
          <p:cNvSpPr txBox="1"/>
          <p:nvPr>
            <p:ph idx="1" type="body"/>
          </p:nvPr>
        </p:nvSpPr>
        <p:spPr>
          <a:xfrm>
            <a:off x="373000" y="820676"/>
            <a:ext cx="7953300" cy="2955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latin typeface="Arial"/>
                <a:ea typeface="Arial"/>
                <a:cs typeface="Arial"/>
                <a:sym typeface="Arial"/>
              </a:rPr>
              <a:t>Strengths:</a:t>
            </a:r>
            <a:endParaRPr b="1"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Reduces bias.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Builds highly accurate models.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2400">
                <a:latin typeface="Arial"/>
                <a:ea typeface="Arial"/>
                <a:cs typeface="Arial"/>
                <a:sym typeface="Arial"/>
              </a:rPr>
              <a:t>Risks:</a:t>
            </a:r>
            <a:r>
              <a:rPr lang="en-GB" sz="2400">
                <a:latin typeface="Arial"/>
                <a:ea typeface="Arial"/>
                <a:cs typeface="Arial"/>
                <a:sym typeface="Arial"/>
              </a:rPr>
              <a:t> Can overfit if not regularized.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 sz="2400">
                <a:latin typeface="Arial"/>
                <a:ea typeface="Arial"/>
                <a:cs typeface="Arial"/>
                <a:sym typeface="Arial"/>
              </a:rPr>
              <a:t>Examples:</a:t>
            </a:r>
            <a:r>
              <a:rPr lang="en-GB" sz="2400">
                <a:latin typeface="Arial"/>
                <a:ea typeface="Arial"/>
                <a:cs typeface="Arial"/>
                <a:sym typeface="Arial"/>
              </a:rPr>
              <a:t> AdaBoost, Gradient Boosting, XGBoost, LightGBM.</a:t>
            </a:r>
            <a:endParaRPr b="1" sz="2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73" title="Screenshot 2025-12-22 at 11.22.52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421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74"/>
          <p:cNvSpPr txBox="1"/>
          <p:nvPr>
            <p:ph type="ctrTitle"/>
          </p:nvPr>
        </p:nvSpPr>
        <p:spPr>
          <a:xfrm>
            <a:off x="1680302" y="2114475"/>
            <a:ext cx="5783400" cy="61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Hands - 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